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64" r:id="rId10"/>
    <p:sldId id="268" r:id="rId19"/>
    <p:sldId id="262" r:id="rId8"/>
    <p:sldId id="263" r:id="rId9"/>
    <p:sldId id="269" r:id="rId20"/>
    <p:sldId id="259" r:id="rId5"/>
    <p:sldId id="260" r:id="rId6"/>
    <p:sldId id="270" r:id="rId21"/>
    <p:sldId id="271" r:id="rId22"/>
    <p:sldId id="272" r:id="rId23"/>
    <p:sldId id="273" r:id="rId24"/>
    <p:sldId id="266" r:id="rId12"/>
    <p:sldId id="274" r:id="rId25"/>
    <p:sldId id="275" r:id="rId26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371600"/>
            <a:ext cx="5486400" cy="54864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754880"/>
            <a:ext cx="4114800" cy="41148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  <p:txBody>
          <a:bodyPr/>
          <a:p/>
        </p:txBody>
      </p:sp>
      <p:pic>
        <p:nvPicPr>
          <p:cNvPr id="4" name="Image 0" descr="icons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621792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ROBOTICS PROJECT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01168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Belief-Based Task Planning for</a:t>
            </a:r>
            <a:endParaRPr lang="en-US" sz="40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Multi-Robot Ship Hull Cleaning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58368" y="37947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belief-driven, closed-loop cognitive layer for defect prioritization and cleaning verification — evaluated in simulation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8234A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14400" y="5193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54864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Pritish Bhatasana</a:t>
            </a:r>
            <a:endParaRPr lang="en-US" sz="1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No: 23BRS1035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35040" y="54864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Siddharth Seth</a:t>
            </a:r>
            <a:endParaRPr lang="en-US" sz="1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No: 23BRS1038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Introduction: Hull Fouling &amp; Structural Defects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0350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hulls accumulate biofouling (algae, barnacles), corrosion, and cracks over time. Left unmanaged, these raise fuel consumption, accelerate structural damage, and drive up maintenance cost — yet manual underwater inspection and cleaning is slow, expensive, and hazardous for divers.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6035040" cy="777240"/>
          </a:xfrm>
          <a:prstGeom prst="roundRect">
            <a:avLst>
              <a:gd name="adj" fmla="val 7059"/>
            </a:avLst>
          </a:prstGeom>
          <a:solidFill>
            <a:srgbClr val="F4F8FA"/>
          </a:solidFill>
          <a:ln/>
        </p:spPr>
        <p:txBody>
          <a:bodyPr/>
          <a:p/>
        </p:txBody>
      </p:sp>
      <p:pic>
        <p:nvPicPr>
          <p:cNvPr id="5" name="Image 0" descr="icons/water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895344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38221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fuel drag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371600" y="41330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biofouling accumulation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4663440"/>
            <a:ext cx="6035040" cy="777240"/>
          </a:xfrm>
          <a:prstGeom prst="roundRect">
            <a:avLst>
              <a:gd name="adj" fmla="val 7059"/>
            </a:avLst>
          </a:prstGeom>
          <a:solidFill>
            <a:srgbClr val="F4F8FA"/>
          </a:solidFill>
          <a:ln/>
        </p:spPr>
        <p:txBody>
          <a:bodyPr/>
          <a:p/>
        </p:txBody>
      </p:sp>
      <p:pic>
        <p:nvPicPr>
          <p:cNvPr id="9" name="Image 1" descr="icons/warning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809744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4736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Corrosion &amp; cracks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371600" y="50474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structural integrity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5577840"/>
            <a:ext cx="6035040" cy="777240"/>
          </a:xfrm>
          <a:prstGeom prst="roundRect">
            <a:avLst>
              <a:gd name="adj" fmla="val 7059"/>
            </a:avLst>
          </a:prstGeom>
          <a:solidFill>
            <a:srgbClr val="F4F8FA"/>
          </a:solidFill>
          <a:ln/>
        </p:spPr>
        <p:txBody>
          <a:bodyPr/>
          <a:p/>
        </p:txBody>
      </p:sp>
      <p:pic>
        <p:nvPicPr>
          <p:cNvPr id="13" name="Image 2" descr="icons/clipboard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7241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6509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371600" y="59618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costly, diver-hazardous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949440" y="1371600"/>
            <a:ext cx="4663440" cy="4892040"/>
          </a:xfrm>
          <a:prstGeom prst="roundRect">
            <a:avLst>
              <a:gd name="adj" fmla="val 1569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7223760" y="1600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Reference System</a:t>
            </a:r>
            <a:endParaRPr lang="en-US" sz="1500" dirty="0"/>
          </a:p>
        </p:txBody>
      </p:sp>
      <p:pic>
        <p:nvPicPr>
          <p:cNvPr id="18" name="Image 3" descr="icons/camer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2194560"/>
            <a:ext cx="640080" cy="6400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66760" y="22860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Robot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366760" y="25877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wheels + depth camera; scans hull, builds point cloud / mesh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7909560" y="3291840"/>
            <a:ext cx="0" cy="731520"/>
          </a:xfrm>
          <a:prstGeom prst="line">
            <a:avLst/>
          </a:prstGeom>
          <a:noFill/>
          <a:ln w="19050">
            <a:solidFill>
              <a:srgbClr val="BFD9E6"/>
            </a:solidFill>
            <a:prstDash val="dash"/>
          </a:ln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 rot="10800000">
            <a:off x="7772400" y="3977640"/>
            <a:ext cx="274320" cy="182880"/>
          </a:xfrm>
          <a:prstGeom prst="triangle">
            <a:avLst/>
          </a:prstGeom>
          <a:solidFill>
            <a:srgbClr val="BFD9E6"/>
          </a:solidFill>
          <a:ln/>
        </p:spPr>
        <p:txBody>
          <a:bodyPr/>
          <a:p/>
        </p:txBody>
      </p:sp>
      <p:pic>
        <p:nvPicPr>
          <p:cNvPr id="23" name="Image 4" descr="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4251960"/>
            <a:ext cx="640080" cy="6400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66760" y="43434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Robot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8366760" y="46451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 + cleaning/repair kit; navigates to marked defects and acts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7223760" y="5486400"/>
            <a:ext cx="4114800" cy="594360"/>
          </a:xfrm>
          <a:prstGeom prst="roundRect">
            <a:avLst>
              <a:gd name="adj" fmla="val 7692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27" name="Text 20"/>
          <p:cNvSpPr/>
          <p:nvPr/>
        </p:nvSpPr>
        <p:spPr>
          <a:xfrm>
            <a:off x="7406640" y="555955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prior internship work on ship hull cleaning robotics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Scope: Why Simulation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5" name="Image 0" descr="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8928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original hardware / source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22960" y="3246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mapping + cleaning robot hardware, ZED2i camera, and original RTAB-Map codebase from the internship are not available for this project.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150876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617720" y="17830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10" name="Image 1" descr="icons/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928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ROS2 environment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617720" y="3246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machine runs Ubuntu 26.04 LTS with ROS2 Lyrical, not the Humble / Ubuntu 22.04 stack the original system used.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38160" y="150876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8412480" y="17830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15" name="Image 2" descr="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189280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Simulation-first approach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412480" y="324612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built and evaluated entirely in a Gazebo simulation — sidestepping hardware and unproven-distro risk while keeping the same problem structure.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for this project: novelty is deliberately placed in the cognition / task-planning layer — the one part of the pipeline that does not depend on unavailable hardware or an unproven ROS distro.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Work: Simulation Environment</a:t>
            </a:r>
            <a:endParaRPr lang="en-US" sz="3200" dirty="0"/>
          </a:p>
        </p:txBody>
      </p:sp>
      <p:pic>
        <p:nvPicPr>
          <p:cNvPr id="3" name="Image 0" descr="images/gazebo_si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417320"/>
            <a:ext cx="534924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486400"/>
            <a:ext cx="5349240" cy="384048"/>
          </a:xfrm>
          <a:prstGeom prst="roundRect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6446520" y="55046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simulation of an underwater vehicle (reference render)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/ ROS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97480" y="150876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26.04 LTS — ROS2 Lyrical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167128"/>
            <a:ext cx="5440680" cy="0"/>
          </a:xfrm>
          <a:prstGeom prst="line">
            <a:avLst/>
          </a:prstGeom>
          <a:noFill/>
          <a:ln w="12700">
            <a:solidFill>
              <a:srgbClr val="DDE7E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48640" y="23317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697480" y="233172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(Gz Sim), synthetic hull mesh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990088"/>
            <a:ext cx="5440680" cy="0"/>
          </a:xfrm>
          <a:prstGeom prst="line">
            <a:avLst/>
          </a:prstGeom>
          <a:noFill/>
          <a:ln w="12700">
            <a:solidFill>
              <a:srgbClr val="DDE7EC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48640" y="31546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697480" y="315468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RGB-D camera feed (ZED2i substitute)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813048"/>
            <a:ext cx="5440680" cy="0"/>
          </a:xfrm>
          <a:prstGeom prst="line">
            <a:avLst/>
          </a:prstGeom>
          <a:noFill/>
          <a:ln w="12700">
            <a:solidFill>
              <a:srgbClr val="DDE7EC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48640" y="39776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697480" y="397764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texture patches: crack / rust / biofouling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636008"/>
            <a:ext cx="5440680" cy="0"/>
          </a:xfrm>
          <a:prstGeom prst="line">
            <a:avLst/>
          </a:prstGeom>
          <a:noFill/>
          <a:ln w="12700">
            <a:solidFill>
              <a:srgbClr val="DDE7EC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48640" y="484632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robots (mapper + cleaner) are spawned in the same simulated world, exchanging state only through explicit ROS2 topics/services — mirroring the real two-robot handoff.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Work: Mapping &amp; Localization Layer</a:t>
            </a:r>
            <a:endParaRPr lang="en-US" sz="3200" dirty="0"/>
          </a:p>
        </p:txBody>
      </p:sp>
      <p:pic>
        <p:nvPicPr>
          <p:cNvPr id="3" name="Image 0" descr="images/rviz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34924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486400"/>
            <a:ext cx="5349240" cy="384048"/>
          </a:xfrm>
          <a:prstGeom prst="roundRect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685800" y="55046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RViz2 visualization of robot pose, path, and sensor point cloud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309360" y="14630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as a solved sub-problem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309360" y="192024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Point-to-point navigation and hull mapping are not this project's novelty target. Localization is provided either by: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09360" y="2724912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309360" y="27249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720840" y="26974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ground-truth pose (fastest path to a working demo)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09360" y="3502152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309360" y="35021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20840" y="3474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ROS2-native SLAM stack (e.g. slam_toolbox) for a more realistic pose estimate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0" y="4434840"/>
            <a:ext cx="5303520" cy="1737360"/>
          </a:xfrm>
          <a:prstGeom prst="roundRect">
            <a:avLst>
              <a:gd name="adj" fmla="val 4211"/>
            </a:avLst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537960" y="461772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way, the mapping robot's output to the cognition layer is the same: a point cloud / mesh plus a set of candidate defect locations — the interface our belief map consumes.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Survey: Where the Open Gap Lies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4F8FA"/>
          </a:solidFill>
          <a:ln/>
        </p:spPr>
        <p:txBody>
          <a:bodyPr/>
          <a:p/>
        </p:txBody>
      </p:sp>
      <p:pic>
        <p:nvPicPr>
          <p:cNvPr id="4" name="Image 0" descr="icons/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82880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6517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868680" y="315468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Deep-learning defect detectors (cracks, rust, biofouling) are already well-studied — e.g. YOLOv8 hull-crack detection, LIACI segmentation benchmark.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343400" y="146304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4F8FA"/>
          </a:solidFill>
          <a:ln/>
        </p:spPr>
        <p:txBody>
          <a:bodyPr/>
          <a:p/>
        </p:txBody>
      </p:sp>
      <p:pic>
        <p:nvPicPr>
          <p:cNvPr id="8" name="Image 1" descr="icons/rou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828800"/>
            <a:ext cx="685800" cy="685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17720" y="26517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Planning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4663440" y="315468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Collision-aware hull navigation (enhanced A*) and SLAM-based task discovery (Map-TIDAL) are already published for this exact domain.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138160" y="146304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8412480" y="1691640"/>
            <a:ext cx="3063240" cy="38404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8412480" y="169164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FOCUS</a:t>
            </a:r>
            <a:endParaRPr lang="en-US" sz="1200" dirty="0"/>
          </a:p>
        </p:txBody>
      </p:sp>
      <p:pic>
        <p:nvPicPr>
          <p:cNvPr id="14" name="Image 2" descr="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286000"/>
            <a:ext cx="685800" cy="685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412480" y="31089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Cognition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8458200" y="361188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work carries defect severity + confidence into task priority, or closes the loop with post-cleaning verification. This is the open gap.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Work: The Self-Verifying Cognitive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cognitive loop absent from prior hull-cleaning and inspection-robotics literature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91640" cy="1920240"/>
          </a:xfrm>
          <a:prstGeom prst="roundRect">
            <a:avLst>
              <a:gd name="adj" fmla="val 3784"/>
            </a:avLst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5" name="Image 0" descr="icons/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3317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" y="2971800"/>
            <a:ext cx="1545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21792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+ confidence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240280" y="2743200"/>
            <a:ext cx="155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395728" y="2103120"/>
            <a:ext cx="1691640" cy="1920240"/>
          </a:xfrm>
          <a:prstGeom prst="roundRect">
            <a:avLst>
              <a:gd name="adj" fmla="val 3784"/>
            </a:avLst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10" name="Image 1" descr="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088" y="233172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468880" y="2971800"/>
            <a:ext cx="1545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 Update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2468880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confidence map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4087368" y="2743200"/>
            <a:ext cx="155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42816" y="2103120"/>
            <a:ext cx="1691640" cy="1920240"/>
          </a:xfrm>
          <a:prstGeom prst="roundRect">
            <a:avLst>
              <a:gd name="adj" fmla="val 3784"/>
            </a:avLst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15" name="Image 2" descr="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176" y="23317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315968" y="2971800"/>
            <a:ext cx="1545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Scoring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4315968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× risk − cost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5934456" y="2743200"/>
            <a:ext cx="155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089904" y="2103120"/>
            <a:ext cx="1691640" cy="1920240"/>
          </a:xfrm>
          <a:prstGeom prst="roundRect">
            <a:avLst>
              <a:gd name="adj" fmla="val 3784"/>
            </a:avLst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20" name="Image 3" descr="icons/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23317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163056" y="2971800"/>
            <a:ext cx="1545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Queue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6163056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work order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7781544" y="2743200"/>
            <a:ext cx="155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7936992" y="2103120"/>
            <a:ext cx="1691640" cy="1920240"/>
          </a:xfrm>
          <a:prstGeom prst="roundRect">
            <a:avLst>
              <a:gd name="adj" fmla="val 3784"/>
            </a:avLst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25" name="Image 4" descr="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2331720"/>
            <a:ext cx="502920" cy="5029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010144" y="2971800"/>
            <a:ext cx="1545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/ Repair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8010144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robot acts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9628632" y="2743200"/>
            <a:ext cx="155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784080" y="2103120"/>
            <a:ext cx="1691640" cy="1920240"/>
          </a:xfrm>
          <a:prstGeom prst="roundRect">
            <a:avLst>
              <a:gd name="adj" fmla="val 3784"/>
            </a:avLst>
          </a:prstGeom>
          <a:solidFill>
            <a:srgbClr val="0A9396"/>
          </a:solidFill>
          <a:ln/>
        </p:spPr>
        <p:txBody>
          <a:bodyPr/>
          <a:p/>
        </p:txBody>
      </p:sp>
      <p:pic>
        <p:nvPicPr>
          <p:cNvPr id="30" name="Image 5" descr="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23317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857232" y="2971800"/>
            <a:ext cx="1545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9857232" y="3337560"/>
            <a:ext cx="15453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→ update belief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1371600" y="4160520"/>
            <a:ext cx="87325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4" name="Text 26"/>
          <p:cNvSpPr/>
          <p:nvPr/>
        </p:nvSpPr>
        <p:spPr>
          <a:xfrm>
            <a:off x="548640" y="43434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defect still detected after cleaning → belief updated, task re-queued (loop back to Task Queue)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36" name="Text 28"/>
          <p:cNvSpPr/>
          <p:nvPr/>
        </p:nvSpPr>
        <p:spPr>
          <a:xfrm>
            <a:off x="822960" y="5230368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A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novel: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Map-TIDAL and similar systems discover and allocate tasks by distance/keypoint density, and mark them done once visited. No reviewed paper carries severity + confidence into prioritization, or re-verifies completion — this project targets exactly that gap, in simulation.</a:t>
            </a:r>
            <a:endParaRPr lang="en-US" sz="1300" dirty="0"/>
          </a:p>
        </p:txBody>
      </p:sp>
      <p:sp>
        <p:nvSpPr>
          <p:cNvPr id="37" name="Text 2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Work: 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4" name="Image 0" descr="icons/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828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Robot Node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463040" y="2148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cloud + defect flags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251960" y="1188720"/>
            <a:ext cx="3703320" cy="4434840"/>
          </a:xfrm>
          <a:prstGeom prst="roundRect">
            <a:avLst>
              <a:gd name="adj" fmla="val 1975"/>
            </a:avLst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526280" y="137160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D3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Cognition Layer</a:t>
            </a:r>
            <a:endParaRPr lang="en-US" sz="1700" dirty="0"/>
          </a:p>
        </p:txBody>
      </p:sp>
      <p:pic>
        <p:nvPicPr>
          <p:cNvPr id="9" name="Image 1" descr="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7452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0" y="185623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 Map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029200" y="2130552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severity, confidence per defect</a:t>
            </a:r>
            <a:endParaRPr lang="en-US" sz="950" dirty="0"/>
          </a:p>
        </p:txBody>
      </p:sp>
      <p:pic>
        <p:nvPicPr>
          <p:cNvPr id="12" name="Image 2" descr="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77063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29200" y="275234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Scorer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029200" y="3026664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tasks by severity × risk − cost</a:t>
            </a:r>
            <a:endParaRPr lang="en-US" sz="950" dirty="0"/>
          </a:p>
        </p:txBody>
      </p:sp>
      <p:pic>
        <p:nvPicPr>
          <p:cNvPr id="15" name="Image 3" descr="icons/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3666744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029200" y="36484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Queue Manager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029200" y="3922776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ordered task list</a:t>
            </a:r>
            <a:endParaRPr lang="en-US" sz="950" dirty="0"/>
          </a:p>
        </p:txBody>
      </p:sp>
      <p:pic>
        <p:nvPicPr>
          <p:cNvPr id="18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562856"/>
            <a:ext cx="384048" cy="38404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029200" y="454456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Monitor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029200" y="4818888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result → update / re-queue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8412480" y="1554480"/>
            <a:ext cx="3246120" cy="1371600"/>
          </a:xfrm>
          <a:prstGeom prst="roundRect">
            <a:avLst>
              <a:gd name="adj" fmla="val 4667"/>
            </a:avLst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22" name="Image 5" descr="icons/robo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1828800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326880" y="1828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Robot Node</a:t>
            </a:r>
            <a:endParaRPr lang="en-US" sz="1300" dirty="0"/>
          </a:p>
        </p:txBody>
      </p:sp>
      <p:sp>
        <p:nvSpPr>
          <p:cNvPr id="24" name="Text 16"/>
          <p:cNvSpPr/>
          <p:nvPr/>
        </p:nvSpPr>
        <p:spPr>
          <a:xfrm>
            <a:off x="9326880" y="2148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9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task, reports status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3749040" y="2240280"/>
            <a:ext cx="5029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Text 18"/>
          <p:cNvSpPr/>
          <p:nvPr/>
        </p:nvSpPr>
        <p:spPr>
          <a:xfrm>
            <a:off x="3703320" y="22860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/defect_detections</a:t>
            </a:r>
            <a:endParaRPr lang="en-US" sz="750" dirty="0"/>
          </a:p>
        </p:txBody>
      </p:sp>
      <p:sp>
        <p:nvSpPr>
          <p:cNvPr id="27" name="Shape 19"/>
          <p:cNvSpPr/>
          <p:nvPr/>
        </p:nvSpPr>
        <p:spPr>
          <a:xfrm>
            <a:off x="7955280" y="2240280"/>
            <a:ext cx="4572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Text 20"/>
          <p:cNvSpPr/>
          <p:nvPr/>
        </p:nvSpPr>
        <p:spPr>
          <a:xfrm>
            <a:off x="7909560" y="228600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/task_queue</a:t>
            </a:r>
            <a:endParaRPr lang="en-US" sz="750" dirty="0"/>
          </a:p>
        </p:txBody>
      </p:sp>
      <p:sp>
        <p:nvSpPr>
          <p:cNvPr id="29" name="Shape 21"/>
          <p:cNvSpPr/>
          <p:nvPr/>
        </p:nvSpPr>
        <p:spPr>
          <a:xfrm>
            <a:off x="10030968" y="3017520"/>
            <a:ext cx="0" cy="233172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30" name="Shape 22"/>
          <p:cNvSpPr/>
          <p:nvPr/>
        </p:nvSpPr>
        <p:spPr>
          <a:xfrm>
            <a:off x="10030968" y="5349240"/>
            <a:ext cx="-18745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31" name="Shape 23"/>
          <p:cNvSpPr/>
          <p:nvPr/>
        </p:nvSpPr>
        <p:spPr>
          <a:xfrm>
            <a:off x="8156448" y="5349240"/>
            <a:ext cx="-3538728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24"/>
          <p:cNvSpPr/>
          <p:nvPr/>
        </p:nvSpPr>
        <p:spPr>
          <a:xfrm>
            <a:off x="4617720" y="5349240"/>
            <a:ext cx="0" cy="-27432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33" name="Text 25"/>
          <p:cNvSpPr/>
          <p:nvPr/>
        </p:nvSpPr>
        <p:spPr>
          <a:xfrm>
            <a:off x="6675120" y="5394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/task_complete (verification re-scan trigger)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ROS2 nodes (mapper, cleaner) communicate only through the cognition layer's topics/services — a fixed specialized two-robot hand-off, not a homogeneous swarm.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Survey: Positioning vs. Published 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85800" y="14630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23560" y="1463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046720" y="146304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Gap vs. Our Project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929384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75104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Map-TIDAL (Ruediger &amp; Banerjee, 2026)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23560" y="1975104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discovery + allocation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0" y="1975104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severity/confidence model; no post-action verification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642616"/>
            <a:ext cx="11064240" cy="658368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2688336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Biofouling recognition + tracking (Su et al., 2024)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23560" y="2688336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+ control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0" y="268833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fused into steering; no task-priority layer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355848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" y="3401568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A* hull navigation (review, 2025)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23560" y="3401568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planning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0" y="34015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Collision-free routing only; no task ordering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11064240" cy="658368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" y="41148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hierarchical orchestration (2026)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23560" y="4114800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Cognition / orchestration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11480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belief model, no verification; different domain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782312"/>
            <a:ext cx="1106424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5800" y="4828032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hull crack detection (2026)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23560" y="4828032"/>
            <a:ext cx="2331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6720" y="4828032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only, no downstream planning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563270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8-paper literature review with citations available in the accompanying document.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Achieved Outcomes &amp; Impact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5" name="Image 0" descr="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865376"/>
            <a:ext cx="338328" cy="338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4592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contribution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600200" y="1984248"/>
            <a:ext cx="9784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belief-driven, severity-aware prioritization layer with closed-loop verification, measured at 82.17% ordering correctness against 50.38% for an unprioritized baseline.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77240" y="292608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10" name="Image 1" descr="icons/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3054096"/>
            <a:ext cx="338328" cy="3383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83464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 in simulation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600200" y="3172968"/>
            <a:ext cx="9784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14-node ROS 2 stack runs headless or with RViz2; 60 benchmark missions reproduce from a single command with fixed seeds.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777240" y="411480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15" name="Image 2" descr="icons/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4242816"/>
            <a:ext cx="338328" cy="33832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2336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comparison baseline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600200" y="4361688"/>
            <a:ext cx="9784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against a naive FIFO baseline sharing identical physics, defects and controllers, isolating the cognition layer: Spearman rₛ +0.70 vs −0.05.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777240" y="530352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pic>
        <p:nvPicPr>
          <p:cNvPr id="20" name="Image 3" descr="icons/site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5431536"/>
            <a:ext cx="338328" cy="33832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5212080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design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1600200" y="5550408"/>
            <a:ext cx="9784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 map and utility scoring remain detector-agnostic — a learned segmentation model can replace the oracle detector without redesigning the cognition layer.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371600"/>
            <a:ext cx="5029200" cy="50292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326880" y="41148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22860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58368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FC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8234A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4434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Pritish Bhatasana</a:t>
            </a:r>
            <a:endParaRPr lang="en-US" sz="15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23BRS1035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0" y="4434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Siddharth Seth</a:t>
            </a:r>
            <a:endParaRPr lang="en-US" sz="15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B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23BRS1038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21295C"/>
                </a:solidFill>
                <a:latin typeface="Cambria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75"/>
                </a:solidFill>
                <a:latin typeface="Calibri"/>
              </a:rPr>
              <a:t>What to clean first, in what order, and how to prove it was actually cleaned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1719072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21295C"/>
                </a:solidFill>
                <a:latin typeface="Calibri"/>
              </a:rPr>
              <a:t>Given hull defects of differing type, severity and detection confidence, how should a two-robot system order remediation and confirm completion — without a fixed schedule or a blind task-done assumption?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88920"/>
            <a:ext cx="3611880" cy="205740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3611880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59" y="30632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Risk blindness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20440"/>
            <a:ext cx="3063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6B75"/>
                </a:solidFill>
                <a:latin typeface="Calibri"/>
              </a:rPr>
              <a:t>Dispatch minimises travel distance only. Defect class τ(d) and severity S(d) never enter the objective, so soft biofouling at 2 m outranks a structural crack at 6 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88920"/>
            <a:ext cx="3611880" cy="205740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43400" y="2788920"/>
            <a:ext cx="3611880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7720" y="30632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Open-loop completion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520440"/>
            <a:ext cx="3063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6B75"/>
                </a:solidFill>
                <a:latin typeface="Calibri"/>
              </a:rPr>
              <a:t>Arrival at the commanded pose is treated as success. A partial cavitation pass is indistinguishable from a complete one, and the residual defect is never revisited.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788920"/>
            <a:ext cx="3611880" cy="205740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138160" y="2788920"/>
            <a:ext cx="3611880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2480" y="306324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Static criticality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520440"/>
            <a:ext cx="3063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6B75"/>
                </a:solidFill>
                <a:latin typeface="Calibri"/>
              </a:rPr>
              <a:t>Severity is sampled once at detection. A crack that propagates during the mission is scheduled on stale information and can cross the critical threshold unnoticed.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64240" cy="868680"/>
          </a:xfrm>
          <a:prstGeom prst="roundRect">
            <a:avLst>
              <a:gd name="adj" fmla="val 5500"/>
            </a:avLst>
          </a:prstGeom>
          <a:solidFill>
            <a:srgbClr val="BFD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5532120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21295C"/>
                </a:solidFill>
                <a:latin typeface="Calibri"/>
              </a:rPr>
              <a:t>Objective:  maximise rank correlation rₛ between the realised servicing order and ground-truth structural risk, subject to zero geofence excursions and zero inter-robot collisions — and retire no defect without physical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21295C"/>
                </a:solidFill>
                <a:latin typeface="Cambria"/>
              </a:rPr>
              <a:t>Proposed Work: Utility Function &amp; Core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75"/>
                </a:solidFill>
                <a:latin typeface="Calibri"/>
              </a:rPr>
              <a:t>Explicit, interpretable prioritisation over true geodesic cost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1719072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65A82"/>
                </a:solidFill>
                <a:latin typeface="Cambria"/>
              </a:rPr>
              <a:t>U(d)  =  w</a:t>
            </a:r>
            <a:r>
              <a:rPr sz="1700" b="1" i="0" baseline="-25000">
                <a:solidFill>
                  <a:srgbClr val="065A82"/>
                </a:solidFill>
                <a:latin typeface="Cambria"/>
              </a:rPr>
              <a:t>1</a:t>
            </a:r>
            <a:r>
              <a:rPr sz="1700" b="1" i="0">
                <a:solidFill>
                  <a:srgbClr val="065A82"/>
                </a:solidFill>
                <a:latin typeface="Cambria"/>
              </a:rPr>
              <a:t> · Ŝ(d) · W</a:t>
            </a:r>
            <a:r>
              <a:rPr sz="1700" b="1" i="0" baseline="-25000">
                <a:solidFill>
                  <a:srgbClr val="065A82"/>
                </a:solidFill>
                <a:latin typeface="Cambria"/>
              </a:rPr>
              <a:t>risk</a:t>
            </a:r>
            <a:r>
              <a:rPr sz="1700" b="1" i="0">
                <a:solidFill>
                  <a:srgbClr val="065A82"/>
                </a:solidFill>
                <a:latin typeface="Cambria"/>
              </a:rPr>
              <a:t>(τ(d)) · Ĉ(d)    −   α · g</a:t>
            </a:r>
            <a:r>
              <a:rPr sz="1700" b="1" i="0" baseline="-25000">
                <a:solidFill>
                  <a:srgbClr val="065A82"/>
                </a:solidFill>
                <a:latin typeface="Cambria"/>
              </a:rPr>
              <a:t>A*</a:t>
            </a:r>
            <a:r>
              <a:rPr sz="1700" b="1" i="0">
                <a:solidFill>
                  <a:srgbClr val="065A82"/>
                </a:solidFill>
                <a:latin typeface="Cambria"/>
              </a:rPr>
              <a:t>(p</a:t>
            </a:r>
            <a:r>
              <a:rPr sz="1700" b="1" i="0" baseline="-25000">
                <a:solidFill>
                  <a:srgbClr val="065A82"/>
                </a:solidFill>
                <a:latin typeface="Cambria"/>
              </a:rPr>
              <a:t>c</a:t>
            </a:r>
            <a:r>
              <a:rPr sz="1700" b="1" i="0">
                <a:solidFill>
                  <a:srgbClr val="065A82"/>
                </a:solidFill>
                <a:latin typeface="Cambria"/>
              </a:rPr>
              <a:t> , p</a:t>
            </a:r>
            <a:r>
              <a:rPr sz="1700" b="1" i="0" baseline="-25000">
                <a:solidFill>
                  <a:srgbClr val="065A82"/>
                </a:solidFill>
                <a:latin typeface="Cambria"/>
              </a:rPr>
              <a:t>d</a:t>
            </a:r>
            <a:r>
              <a:rPr sz="1700" b="1" i="0">
                <a:solidFill>
                  <a:srgbClr val="065A82"/>
                </a:solidFill>
                <a:latin typeface="Cambria"/>
              </a:rPr>
              <a:t>)    +   β · 𝟙</a:t>
            </a:r>
            <a:r>
              <a:rPr sz="1700" b="1" i="0" baseline="-25000">
                <a:solidFill>
                  <a:srgbClr val="065A82"/>
                </a:solidFill>
                <a:latin typeface="Cambria"/>
              </a:rPr>
              <a:t>requeued</a:t>
            </a:r>
            <a:r>
              <a:rPr sz="1700" b="1" i="0">
                <a:solidFill>
                  <a:srgbClr val="065A82"/>
                </a:solidFill>
                <a:latin typeface="Cambria"/>
              </a:rPr>
              <a:t>    +   Ω · 𝟙</a:t>
            </a:r>
            <a:r>
              <a:rPr sz="1700" b="1" i="0" baseline="-25000">
                <a:solidFill>
                  <a:srgbClr val="065A82"/>
                </a:solidFill>
                <a:latin typeface="Cambria"/>
              </a:rPr>
              <a:t>critical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697480" cy="16916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8" y="306324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9396"/>
                </a:solidFill>
                <a:latin typeface="Cambria"/>
              </a:rPr>
              <a:t>Ŝ · W</a:t>
            </a:r>
            <a:r>
              <a:rPr sz="1400" b="1" i="0" baseline="-25000">
                <a:solidFill>
                  <a:srgbClr val="0A9396"/>
                </a:solidFill>
                <a:latin typeface="Cambria"/>
              </a:rPr>
              <a:t>risk</a:t>
            </a:r>
            <a:r>
              <a:rPr sz="1400" b="1" i="0">
                <a:solidFill>
                  <a:srgbClr val="0A9396"/>
                </a:solidFill>
                <a:latin typeface="Cambria"/>
              </a:rPr>
              <a:t> · 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93008"/>
            <a:ext cx="2286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Expected structural consequence: severity scaled by class risk, discounted by detection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880360"/>
            <a:ext cx="2697480" cy="16916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84448" y="306324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9396"/>
                </a:solidFill>
                <a:latin typeface="Cambria"/>
              </a:rPr>
              <a:t>− α · g</a:t>
            </a:r>
            <a:r>
              <a:rPr sz="1400" b="1" i="0" baseline="-25000">
                <a:solidFill>
                  <a:srgbClr val="0A9396"/>
                </a:solidFill>
                <a:latin typeface="Cambria"/>
              </a:rPr>
              <a:t>A*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3493008"/>
            <a:ext cx="2286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True 8-connected A* geodesic distance with 0.55 m obstacle inflation — not Euclidean distance.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880360"/>
            <a:ext cx="2697480" cy="16916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19088" y="306324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9396"/>
                </a:solidFill>
                <a:latin typeface="Cambria"/>
              </a:rPr>
              <a:t>+ 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3493008"/>
            <a:ext cx="2286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Escalation bonus applied when verification re-queues a defect.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2880360"/>
            <a:ext cx="2697480" cy="16916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53728" y="306324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9396"/>
                </a:solidFill>
                <a:latin typeface="Cambria"/>
              </a:rPr>
              <a:t>+ 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3493008"/>
            <a:ext cx="2286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Emergency override, set an order of magnitude above the first term so it acts lexicographically.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00600"/>
            <a:ext cx="110642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8368" y="4855464"/>
            <a:ext cx="2615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008" y="4855464"/>
            <a:ext cx="8010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Definition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66360"/>
            <a:ext cx="110642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8368" y="5202936"/>
            <a:ext cx="261518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Risk weight W</a:t>
            </a:r>
            <a:r>
              <a:rPr sz="1100" b="0" i="0" baseline="-25000">
                <a:solidFill>
                  <a:srgbClr val="1B1B1B"/>
                </a:solidFill>
                <a:latin typeface="Calibri"/>
              </a:rPr>
              <a:t>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5202936"/>
            <a:ext cx="801014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crack 1.00  &gt;  corrosion 0.70  &gt;  biofouling 0.40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95544"/>
            <a:ext cx="11064240" cy="329184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8368" y="5532120"/>
            <a:ext cx="261518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Belief fusion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3008" y="5532120"/>
            <a:ext cx="801014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Ŝₖ = (1−λ)Ŝₖ₋₁ + λ zₖ ,  λ = 0.50;   Ĉₖ = max(Ĉₖ₋₁ , cₖ)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824728"/>
            <a:ext cx="110642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58368" y="5861304"/>
            <a:ext cx="261518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Degradation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5861304"/>
            <a:ext cx="801014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dS/dt = γτ  ⇒  deferred cracks genuinely propagate (γ = 0.0080 s⁻¹)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153912"/>
            <a:ext cx="11064240" cy="329184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368" y="6190488"/>
            <a:ext cx="261518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Lane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6190488"/>
            <a:ext cx="801014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E(d) = [ ℓ(d) &lt; ℓ</a:t>
            </a:r>
            <a:r>
              <a:rPr sz="1100" b="0" i="0" baseline="-25000">
                <a:solidFill>
                  <a:srgbClr val="1B1B1B"/>
                </a:solidFill>
                <a:latin typeface="Calibri"/>
              </a:rPr>
              <a:t>map</a:t>
            </a:r>
            <a:r>
              <a:rPr sz="1100" b="0" i="0">
                <a:solidFill>
                  <a:srgbClr val="1B1B1B"/>
                </a:solidFill>
                <a:latin typeface="Calibri"/>
              </a:rPr>
              <a:t> ]  ∨  [ ρ(Ŝ(d)) = CRITICAL 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483096"/>
            <a:ext cx="110642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58368" y="6519672"/>
            <a:ext cx="261518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Verification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93008" y="6519672"/>
            <a:ext cx="8010144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residual ≤ θᵥ (0.08) ⇒ VERIFIED_CLEAN,  else RE-QUEUED with bonus 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21295C"/>
                </a:solidFill>
                <a:latin typeface="Cambria"/>
              </a:rPr>
              <a:t>Results: Mission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75"/>
                </a:solidFill>
                <a:latin typeface="Calibri"/>
              </a:rPr>
              <a:t>One complete 14-defect mission — lane gating, risk ordering, preemption, verification</a:t>
            </a:r>
          </a:p>
        </p:txBody>
      </p:sp>
      <p:pic>
        <p:nvPicPr>
          <p:cNvPr id="4" name="Picture 3" descr="fig4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1510" y="1481328"/>
            <a:ext cx="9105930" cy="40416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614416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B75"/>
                </a:solidFill>
                <a:latin typeface="Calibri"/>
              </a:rPr>
              <a:t>Simulator output at four mission stages. Grey = UNDETECTED, orange = QUEUED, red = CLEANING, green = VERIFIED_CLEAN. Cyan trace = mapper serpentine; orange trace = cleaner tour.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163056"/>
            <a:ext cx="11064240" cy="566928"/>
          </a:xfrm>
          <a:prstGeom prst="roundRect">
            <a:avLst>
              <a:gd name="adj" fmla="val 5500"/>
            </a:avLst>
          </a:prstGeom>
          <a:solidFill>
            <a:srgbClr val="BFD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6254496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21295C"/>
                </a:solidFill>
                <a:latin typeface="Calibri"/>
              </a:rPr>
              <a:t>Cleaner holds until Lane 1 is released → services crack, then corrosion, then biofouling → preempts for an escalating crack via the context stack → resumes → all 14 defects verified clean.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21295C"/>
                </a:solidFill>
                <a:latin typeface="Cambria"/>
              </a:rPr>
              <a:t>Results: Quantitative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75"/>
                </a:solidFill>
                <a:latin typeface="Calibri"/>
              </a:rPr>
              <a:t>60 independent missions — 6 scenarios × 5 seeds × 2 architectures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72768"/>
            <a:ext cx="11064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0128" y="1627632"/>
            <a:ext cx="165506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Order corr. % (Ours)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4648" y="1627632"/>
            <a:ext cx="165506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Order corr. % (FIFO)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9168" y="1627632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rₛ (Ours)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1627632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rₛ (FIFO)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9567" y="1627632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OOB / Coll.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48256"/>
            <a:ext cx="11064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8368" y="2084832"/>
            <a:ext cx="24323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nominal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08483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85.3 ± 2.1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8483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49.7 ± 1.5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208483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+0.77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208483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−0.07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9567" y="2084832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0 /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14016"/>
            <a:ext cx="11064240" cy="36576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8368" y="2450592"/>
            <a:ext cx="24323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swarm_scaling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245059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60.6 ± 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45059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53.9 ± 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45059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+0.23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9367" y="245059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+0.05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59567" y="2450592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0 /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779776"/>
            <a:ext cx="11064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58368" y="2816352"/>
            <a:ext cx="24323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obstacles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281635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89.0 ± 1.5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281635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49.7 ± 1.5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1635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+0.83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9367" y="281635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−0.07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2816352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0 /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145536"/>
            <a:ext cx="11064240" cy="36576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8368" y="3182112"/>
            <a:ext cx="24323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high_sensor_noise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318211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85.3 ± 2.1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318211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49.7 ± 1.5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9168" y="318211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+0.77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9367" y="318211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−0.07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59567" y="3182112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0 /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511296"/>
            <a:ext cx="11064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58368" y="3547872"/>
            <a:ext cx="24323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agent_failure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354787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87.6 ± 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84648" y="354787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49.7 ± 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59168" y="354787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+0.81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9367" y="354787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−0.07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59567" y="3547872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0 / 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877056"/>
            <a:ext cx="11064240" cy="36576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58368" y="3913632"/>
            <a:ext cx="24323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1B1B"/>
                </a:solidFill>
                <a:latin typeface="Calibri"/>
              </a:rPr>
              <a:t>marine_current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0128" y="391363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85.3 ± 2.1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4648" y="391363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49.7 ± 1.5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59168" y="391363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+0.77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59367" y="391363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−0.07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59567" y="3913632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1B1B"/>
                </a:solidFill>
                <a:latin typeface="Calibri"/>
              </a:rPr>
              <a:t>0 / 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242816"/>
            <a:ext cx="11064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58368" y="4279392"/>
            <a:ext cx="24323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Overall (n = 30 each)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10128" y="427939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82.17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84648" y="4279392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50.38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9168" y="427939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+0.70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59367" y="4279392"/>
            <a:ext cx="13807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−0.05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59567" y="4279392"/>
            <a:ext cx="12435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0 / 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709160"/>
            <a:ext cx="2697480" cy="141732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49808" y="489204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A9396"/>
                </a:solidFill>
                <a:latin typeface="Cambria"/>
              </a:rPr>
              <a:t>+31.8 pp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54132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ordering correctness gain over the FIFO baseline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4709160"/>
            <a:ext cx="2697480" cy="141732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584448" y="489204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A9396"/>
                </a:solidFill>
                <a:latin typeface="Cambria"/>
              </a:rPr>
              <a:t>d = 4.37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54132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Cohen’s d; Welch t = 16.91 — a decisive effect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17920" y="4709160"/>
            <a:ext cx="2697480" cy="141732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419088" y="489204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A9396"/>
                </a:solidFill>
                <a:latin typeface="Cambria"/>
              </a:rPr>
              <a:t>36%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19088" y="54132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of remediations caught and re-queued by verification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052560" y="4709160"/>
            <a:ext cx="2697480" cy="141732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253728" y="489204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A9396"/>
                </a:solidFill>
                <a:latin typeface="Cambria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53728" y="54132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geofence, lane and collision violations in 60 missions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62636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5B6B75"/>
                </a:solidFill>
                <a:latin typeface="Calibri"/>
              </a:rPr>
              <a:t>Both architectures retire all 14 defects in every mission; the ordering gain is not bought by sacrificing completeness.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21295C"/>
                </a:solidFill>
                <a:latin typeface="Cambria"/>
              </a:rPr>
              <a:t>Results: Ordering Quality &amp; Risk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75"/>
                </a:solidFill>
                <a:latin typeface="Calibri"/>
              </a:rPr>
              <a:t>The baseline is pinned near chance in every scenario; the proposed system is not</a:t>
            </a:r>
          </a:p>
        </p:txBody>
      </p:sp>
      <p:pic>
        <p:nvPicPr>
          <p:cNvPr id="4" name="Picture 3" descr="fig5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67" y="1572768"/>
            <a:ext cx="4086225" cy="3017520"/>
          </a:xfrm>
          <a:prstGeom prst="rect">
            <a:avLst/>
          </a:prstGeom>
        </p:spPr>
      </p:pic>
      <p:pic>
        <p:nvPicPr>
          <p:cNvPr id="5" name="Picture 4" descr="fig6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958" y="1572768"/>
            <a:ext cx="4139163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700016"/>
            <a:ext cx="5257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B75"/>
                </a:solidFill>
                <a:latin typeface="Calibri"/>
              </a:rPr>
              <a:t>Defect-ordering correctness by scenario (mean ± SD, 5 seeds).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4700016"/>
            <a:ext cx="5257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B75"/>
                </a:solidFill>
                <a:latin typeface="Calibri"/>
              </a:rPr>
              <a:t>Spearman rₛ between servicing order and structural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B1B1B"/>
                </a:solidFill>
                <a:latin typeface="Calibri"/>
              </a:rPr>
              <a:t>The single weak case is swarm_scaling (60.6%): three cleaners draw concurrently from one ranked queue, so completion order is partly governed by travel time. The remedy is architectural — replace the shared queue with a consensus-based bundle auction (CBBA) in which each cleaner bids on its own marginal geodesic cost.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5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21295C"/>
                </a:solidFill>
                <a:latin typeface="Cambria"/>
              </a:rPr>
              <a:t>Discussion: Trade-offs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75"/>
                </a:solidFill>
                <a:latin typeface="Calibri"/>
              </a:rPr>
              <a:t>What the prioritisation costs, and where the claims stop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440680" cy="224028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1295C"/>
                </a:solidFill>
                <a:latin typeface="Calibri"/>
              </a:rPr>
              <a:t>The cost of prioritisation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6B75"/>
                </a:solidFill>
                <a:latin typeface="Calibri"/>
              </a:rPr>
              <a:t>Missions take 106.7 s against 76.4 s for FIFO — a 39.7% increase. Lane gating idles the cleaner for separation, risk ordering abandons distance optimality, and verification adds a re-scan per defect. Each buys a property the baseline lacks, and the coefficient α moves the operating point directly.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5440680" cy="2240280"/>
          </a:xfrm>
          <a:prstGeom prst="roundRect">
            <a:avLst>
              <a:gd name="adj" fmla="val 5500"/>
            </a:avLst>
          </a:prstGeom>
          <a:solidFill>
            <a:srgbClr val="BFD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75564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1295C"/>
                </a:solidFill>
                <a:latin typeface="Calibri"/>
              </a:rPr>
              <a:t>Why the trade is favourable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12848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6B75"/>
                </a:solidFill>
                <a:latin typeface="Calibri"/>
              </a:rPr>
              <a:t>In the agent_failure scenario the open-loop baseline reports 100% success while leaving residual defects on the hull. Closed-loop verification rejected 36% of remediations there. For a task where a deferred crack is the dominant risk, 30 s is a cheap price for correct ordering and verified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3611880" cy="182880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3611880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2" y="426110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Simulation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6634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5"/>
                </a:solidFill>
                <a:latin typeface="Calibri"/>
              </a:rPr>
              <a:t>Perception is a noisy oracle, not a learned detector; noise robustness characterises the belief filter, not a vision pipeline.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4023360"/>
            <a:ext cx="3611880" cy="182880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43400" y="4023360"/>
            <a:ext cx="3611880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99432" y="426110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Planar manifold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46634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5"/>
                </a:solidFill>
                <a:latin typeface="Calibri"/>
              </a:rPr>
              <a:t>Real hulls are doubly curved. Geodesic planning over a triangulated mesh is required before path costs transfer.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23360"/>
            <a:ext cx="3611880" cy="182880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138160" y="4023360"/>
            <a:ext cx="3611880" cy="6400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94192" y="426110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Single-server 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46634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5"/>
                </a:solidFill>
                <a:latin typeface="Calibri"/>
              </a:rPr>
              <a:t>Order correctness assumes one sequential cleaner and therefore under-reports multi-cleaner performance.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B6B75"/>
                </a:solidFill>
                <a:latin typeface="Calibri"/>
              </a:rPr>
              <a:t>Utility weights were set by design reasoning rather than fitted to data, and are presented as an interpretable default rather than an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21295C"/>
                </a:solidFill>
                <a:latin typeface="Cambria"/>
              </a:rPr>
              <a:t>Conclusion &amp; Future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11064240" cy="1234440"/>
          </a:xfrm>
          <a:prstGeom prst="roundRect">
            <a:avLst>
              <a:gd name="adj" fmla="val 5500"/>
            </a:avLst>
          </a:prstGeom>
          <a:solidFill>
            <a:srgbClr val="BFD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572768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HullSentinal replaces geometric dispatch and self-reported completion with an explicit cognition layer: a probabilistic defect belief carrying severity and confidence, an interpretable structural-utility ranking over true geodesic cost, and a mandatory physical re-scan before any defect may be retired.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34640"/>
            <a:ext cx="2697480" cy="12344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298094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0A9396"/>
                </a:solidFill>
                <a:latin typeface="Cambria"/>
              </a:rPr>
              <a:t>82.17%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47472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ordering correctness, from 50.38% (FIFO)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834640"/>
            <a:ext cx="2697480" cy="12344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84448" y="298094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0A9396"/>
                </a:solidFill>
                <a:latin typeface="Cambria"/>
              </a:rPr>
              <a:t>rₛ = +0.70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347472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risk alignment, from −0.05 (FIFO)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834640"/>
            <a:ext cx="2697480" cy="12344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19088" y="298094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0A9396"/>
                </a:solidFill>
                <a:latin typeface="Cambria"/>
              </a:rPr>
              <a:t>14 /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347472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defects verified clean every 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834640"/>
            <a:ext cx="2697480" cy="123444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53728" y="298094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0A9396"/>
                </a:solidFill>
                <a:latin typeface="Cambria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3474720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75"/>
                </a:solidFill>
                <a:latin typeface="Calibri"/>
              </a:rPr>
              <a:t>safety violations across 60 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Future 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3611880" cy="155448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48640" y="4754880"/>
            <a:ext cx="3611880" cy="64008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04672" y="4974336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Swarm scaling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358384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5"/>
                </a:solidFill>
                <a:latin typeface="Calibri"/>
              </a:rPr>
              <a:t>Replace the shared ranked queue with a consensus-based bundle auction so N cleaners bid on bundles by marginal geodesic cost.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754880"/>
            <a:ext cx="3611880" cy="155448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343400" y="4754880"/>
            <a:ext cx="3611880" cy="64008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99432" y="4974336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3D curved hulls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5358384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5"/>
                </a:solidFill>
                <a:latin typeface="Calibri"/>
              </a:rPr>
              <a:t>Replace the planar occupancy grid with geodesic planning over a triangulated hull mesh and surface-normal adhesion.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754880"/>
            <a:ext cx="3611880" cy="1554480"/>
          </a:xfrm>
          <a:prstGeom prst="roundRect">
            <a:avLst>
              <a:gd name="adj" fmla="val 55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138160" y="4754880"/>
            <a:ext cx="3611880" cy="64008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94192" y="4974336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Real perception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5358384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5"/>
                </a:solidFill>
                <a:latin typeface="Calibri"/>
              </a:rPr>
              <a:t>Substitute the oracle detector with a learned segmentation model; the cognition layer is detector-agnostic and needs no redesign.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5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21295C"/>
                </a:solidFill>
                <a:latin typeface="Cambria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99616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86384" y="1417320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[1]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H. Su, S. Liu, L. Zhang, Y. Chen, and C. Yang, “Biofouling recognition and boundary tracking control for underwater cleaning robots,” Ocean Engineering, vol. 295, art. 116707, 2024.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12848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" y="2130552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[2]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“Automated detection and classification of cracks in ship hull structures using deep learning,” Ocean Engineering,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926080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86384" y="2843784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[3]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“Detection of cracks and corrosion for automated vessel visual inspection,” LIACI dataset, EU FP7 MINOAS project.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39312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6384" y="3557016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[4]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“Design, perception, planning and control for underwater cleaning robotics: progress, challenges and trends,” Ocean Engineering review, 2025.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352544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6384" y="4270248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[5]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M. Chwełatiuk et al., “Algorithm for determining the position of a ship hull-cleaning robot,” Applied Sciences, vol. 15, no. 10, art. 5705, 2025.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65776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6384" y="4983480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[6]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B. P. Gerkey and M. J. Matarić, “A formal analysis and taxonomy of task allocation in multi-robot systems,” Int. J. Robotics Research, vol. 23, no. 9, pp. 939–954, 2004.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779008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6384" y="5696712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[7]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H.-L. Choi, L. Brunet, and J. P. How, “Consensus-based decentralized auctions for robust task allocation,” IEEE Trans. Robotics, vol. 25, no. 4, pp. 912–926, 2009.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499616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9944" y="1417320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[8]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M. Ruediger and A. G. Banerjee, “Mapping-guided task discovery and allocation for cooperative robotic inspection of underwater structures (Map-TIDAL),” arXiv:2602.02389, 2026.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212848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9944" y="2130552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[9]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“A centralized multi-robot task allocation for industrial plant inspection by using A* and genetic algorithms.”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926080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9944" y="2843784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[10]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E. Galceran and M. Carreras, “A survey on coverage path planning for robotics,” Robotics and Autonomous Systems, vol. 61, no. 12, pp. 1258–1276, 2013.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639312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09944" y="3557016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[11]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“A hierarchical LLM-based framework for heterogeneous multi-robot orchestration in high-risk energy facility maintenance,” 2026.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352544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9944" y="4270248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[12]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P. E. Hart, N. J. Nilsson, and B. Raphael, “A formal basis for the heuristic determination of minimum cost paths,” IEEE Trans. Systems Science and Cybernetics, vol. 4, no. 2, 1968.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5065776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09944" y="4983480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[13]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S. Macenski, T. Foote, B. Gerkey, C. Lalancette, and W. Woodall, “Robot Operating System 2: design, architecture, and uses in the wild,” Science Robotics, vol. 7, no. 66, 2022.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5779008"/>
            <a:ext cx="82296" cy="822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09944" y="5696712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65A82"/>
                </a:solidFill>
                <a:latin typeface="Calibri"/>
              </a:rPr>
              <a:t>[14]  </a:t>
            </a:r>
            <a:r>
              <a:rPr sz="950" b="0" i="0">
                <a:solidFill>
                  <a:srgbClr val="1B1B1B"/>
                </a:solidFill>
                <a:latin typeface="Calibri"/>
              </a:rPr>
              <a:t>N. Koenig and A. Howard, “Design and use paradigms for Gazebo, an open-source multi-robot simulator,” in Proc. IEEE/RSJ IROS, 2004, pp. 2149–2154.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B75"/>
                </a:solidFill>
                <a:latin typeface="Calibri"/>
              </a:rPr>
              <a:t>Entries [1]–[5], [8], [9] and [11] are the project’s domain sources; [6], [7], [10], [12]–[14] are the methodological references cited in the paper.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B75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2026-07-31T03:44:44Z</dcterms:created>
  <dcterms:modified xsi:type="dcterms:W3CDTF">2026-07-31T03:44:44Z</dcterms:modified>
</cp:coreProperties>
</file>