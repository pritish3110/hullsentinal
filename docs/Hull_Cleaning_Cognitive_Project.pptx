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pic>
        <p:nvPicPr>
          <p:cNvPr id="4" name="Image 0" descr="icon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6217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ROBOTICS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Belief-Based Task Planning for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Ship Hull Cleaning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794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belief-driven, closed-loop cognitive layer for defect prioritization and cleaning verification — evaluated in simulation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823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Pritish Bhatasana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23BRS1035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Seth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23BRS1038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Hull Fouling &amp; Structural Defects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hulls accumulate biofouling (algae, barnacles), corrosion, and cracks over time. Left unmanaged, these raise fuel consumption, accelerate structural damage, and drive up maintenance cost — yet manual underwater inspection and cleaning is slow, expensive, and hazardous for divers.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pic>
        <p:nvPicPr>
          <p:cNvPr id="5" name="Image 0" descr="icons/wat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89534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822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fuel drag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4133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biofouling accumulation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pic>
        <p:nvPicPr>
          <p:cNvPr id="9" name="Image 1" descr="icons/warning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80974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736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Corrosion &amp; cracks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5047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structural integrity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5778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pic>
        <p:nvPicPr>
          <p:cNvPr id="13" name="Image 2" descr="icons/clipboard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7241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5650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59618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costly, diver-hazardous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49440" y="1371600"/>
            <a:ext cx="4663440" cy="4892040"/>
          </a:xfrm>
          <a:prstGeom prst="roundRect">
            <a:avLst>
              <a:gd name="adj" fmla="val 1569"/>
            </a:avLst>
          </a:prstGeom>
          <a:solidFill>
            <a:srgbClr val="065A82"/>
          </a:solidFill>
          <a:ln/>
        </p:spPr>
      </p:sp>
      <p:sp>
        <p:nvSpPr>
          <p:cNvPr id="17" name="Text 12"/>
          <p:cNvSpPr/>
          <p:nvPr/>
        </p:nvSpPr>
        <p:spPr>
          <a:xfrm>
            <a:off x="722376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Reference System</a:t>
            </a:r>
            <a:endParaRPr lang="en-US" sz="1500" dirty="0"/>
          </a:p>
        </p:txBody>
      </p:sp>
      <p:pic>
        <p:nvPicPr>
          <p:cNvPr id="18" name="Image 3" descr="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19456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Robot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66760" y="25877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wheels + depth camera; scans hull, builds point cloud / mesh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909560" y="3291840"/>
            <a:ext cx="0" cy="731520"/>
          </a:xfrm>
          <a:prstGeom prst="line">
            <a:avLst/>
          </a:prstGeom>
          <a:noFill/>
          <a:ln w="19050">
            <a:solidFill>
              <a:srgbClr val="BFD9E6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 rot="10800000">
            <a:off x="7772400" y="3977640"/>
            <a:ext cx="274320" cy="182880"/>
          </a:xfrm>
          <a:prstGeom prst="triangle">
            <a:avLst/>
          </a:prstGeom>
          <a:solidFill>
            <a:srgbClr val="BFD9E6"/>
          </a:solidFill>
          <a:ln/>
        </p:spPr>
      </p:sp>
      <p:pic>
        <p:nvPicPr>
          <p:cNvPr id="23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4251960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66760" y="4343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Robot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366760" y="46451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+ cleaning/repair kit; navigates to marked defects and acts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223760" y="5486400"/>
            <a:ext cx="4114800" cy="594360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/>
        </p:spPr>
      </p:sp>
      <p:sp>
        <p:nvSpPr>
          <p:cNvPr id="27" name="Text 20"/>
          <p:cNvSpPr/>
          <p:nvPr/>
        </p:nvSpPr>
        <p:spPr>
          <a:xfrm>
            <a:off x="7406640" y="55595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prior internship work on ship hull cleaning robotics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Scope: Why Simulation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original hardware / source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+ cleaning robot hardware, ZED2i camera, and original RTAB-Map codebase from the internship are not available for this project.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5087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928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ROS2 environment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machine runs Ubuntu 26.04 LTS with ROS2 Lyrical, not the Humble / Ubuntu 22.04 stack the original system used.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5087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4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89280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Simulation-first approach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12480" y="32461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and evaluated entirely in a Gazebo simulation — sidestepping hardware and unproven-distro risk while keeping the same problem structure.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this project: novelty is deliberately placed in the cognition / task-planning layer — the one part of the pipeline that does not depend on unavailable hardware or an unproven ROS distro.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Environment: Gazebo + ROS2</a:t>
            </a:r>
            <a:endParaRPr lang="en-US" sz="3200" dirty="0"/>
          </a:p>
        </p:txBody>
      </p:sp>
      <p:pic>
        <p:nvPicPr>
          <p:cNvPr id="3" name="Image 0" descr="images/gazebo_s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417320"/>
            <a:ext cx="534924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5486400"/>
            <a:ext cx="5349240" cy="384048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6446520" y="55046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simulation of an underwater vehicle (reference render)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ROS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97480" y="1508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26.04 LTS — ROS2 Lyrical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167128"/>
            <a:ext cx="5440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697480" y="23317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(Gz Sim), synthetic hull mesh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990088"/>
            <a:ext cx="5440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154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97480" y="31546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RGB-D camera feed (ZED2i substitute)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813048"/>
            <a:ext cx="5440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97480" y="39776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texture patches: crack / rust / biofouling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440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846320"/>
            <a:ext cx="5440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robots (mapper + cleaner) are spawned in the same simulated world, exchanging state only through explicit ROS2 topics/services — mirroring the real two-robot handoff.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&amp; Localization Layer</a:t>
            </a:r>
            <a:endParaRPr lang="en-US" sz="3200" dirty="0"/>
          </a:p>
        </p:txBody>
      </p:sp>
      <p:pic>
        <p:nvPicPr>
          <p:cNvPr id="3" name="Image 0" descr="images/rviz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534924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86400"/>
            <a:ext cx="5349240" cy="384048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55046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RViz2 visualization of robot pose, path, and sensor point cloud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a solved sub-problem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19202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navigation and hull mapping are not this project's novelty target. Localization is provided either by: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309360" y="272491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2724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20840" y="26974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ground-truth pose (fastest path to a working demo)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350215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20840" y="3474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ROS2-native SLAM stack (e.g. slam_toolbox) for a more realistic pose estimate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44348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6177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the mapping robot's output to the cognition layer is the same: a point cloud / mesh plus a set of candidate defect locations — the interface our belief map consumes.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Selection: Perception vs. Path Planning vs. Cognition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F8FA"/>
          </a:solidFill>
          <a:ln/>
        </p:spPr>
      </p:sp>
      <p:pic>
        <p:nvPicPr>
          <p:cNvPr id="4" name="Image 0" descr="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288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8680" y="31546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defect detectors (cracks, rust, biofouling) are already well-studied — e.g. YOLOv8 hull-crack detection, LIACI segmentation benchmark.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4340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4F8FA"/>
          </a:solidFill>
          <a:ln/>
        </p:spPr>
      </p:sp>
      <p:pic>
        <p:nvPicPr>
          <p:cNvPr id="8" name="Image 1" descr="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828800"/>
            <a:ext cx="68580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772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Planning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663440" y="31546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Collision-aware hull navigation (enhanced A*) and SLAM-based task discovery (Map-TIDAL) are already published for this exact domain.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138160" y="14630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065A82"/>
          </a:solidFill>
          <a:ln/>
        </p:spPr>
      </p:sp>
      <p:sp>
        <p:nvSpPr>
          <p:cNvPr id="12" name="Shape 8"/>
          <p:cNvSpPr/>
          <p:nvPr/>
        </p:nvSpPr>
        <p:spPr>
          <a:xfrm>
            <a:off x="8412480" y="16916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0A9396"/>
          </a:solidFill>
          <a:ln/>
        </p:spPr>
      </p:sp>
      <p:sp>
        <p:nvSpPr>
          <p:cNvPr id="13" name="Text 9"/>
          <p:cNvSpPr/>
          <p:nvPr/>
        </p:nvSpPr>
        <p:spPr>
          <a:xfrm>
            <a:off x="8412480" y="16916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</a:t>
            </a:r>
            <a:endParaRPr lang="en-US" sz="1200" dirty="0"/>
          </a:p>
        </p:txBody>
      </p:sp>
      <p:pic>
        <p:nvPicPr>
          <p:cNvPr id="14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86000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0" y="3108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Cognition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8458200" y="361188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work carries defect severity + confidence into task priority, or closes the loop with post-cleaning verification. This is the open gap.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Novelty: Belief-Driven, Self-Verifying Task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cognitive loop absent from prior hull-cleaning and inspection-robotics literature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pic>
        <p:nvPicPr>
          <p:cNvPr id="5" name="Image 0" descr="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1792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+ confidence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240280" y="2743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395728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pic>
        <p:nvPicPr>
          <p:cNvPr id="10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331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Update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468880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confidence map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087368" y="2743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242816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pic>
        <p:nvPicPr>
          <p:cNvPr id="15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331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15968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315968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× risk − cost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934456" y="2743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089904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pic>
        <p:nvPicPr>
          <p:cNvPr id="20" name="Image 3" descr="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33172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63056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163056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work order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781544" y="2743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7936992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</p:sp>
      <p:pic>
        <p:nvPicPr>
          <p:cNvPr id="25" name="Image 4" descr="icons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33172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10144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Repair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010144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robot acts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9628632" y="2743200"/>
            <a:ext cx="155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784080" y="2103120"/>
            <a:ext cx="1691640" cy="1920240"/>
          </a:xfrm>
          <a:prstGeom prst="roundRect">
            <a:avLst>
              <a:gd name="adj" fmla="val 3784"/>
            </a:avLst>
          </a:prstGeom>
          <a:solidFill>
            <a:srgbClr val="0A9396"/>
          </a:solidFill>
          <a:ln/>
        </p:spPr>
      </p:sp>
      <p:pic>
        <p:nvPicPr>
          <p:cNvPr id="30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33172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57232" y="2971800"/>
            <a:ext cx="1545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9857232" y="3337560"/>
            <a:ext cx="15453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→ update belief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1371600" y="4160520"/>
            <a:ext cx="8732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34" name="Text 26"/>
          <p:cNvSpPr/>
          <p:nvPr/>
        </p:nvSpPr>
        <p:spPr>
          <a:xfrm>
            <a:off x="54864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defect still detected after cleaning → belief updated, task re-queued (loop back to Task Queue)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36" name="Text 28"/>
          <p:cNvSpPr/>
          <p:nvPr/>
        </p:nvSpPr>
        <p:spPr>
          <a:xfrm>
            <a:off x="822960" y="5230368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A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novel: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Map-TIDAL and similar systems discover and allocate tasks by distance/keypoint density, and mark them done once visited. No reviewed paper carries severity + confidence into prioritization, or re-verifies completion — this project targets exactly that gap, in simulation.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(Simulation)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0040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pic>
        <p:nvPicPr>
          <p:cNvPr id="4" name="Image 0" descr="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Robot Node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+ defect flags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51960" y="118872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4526280" y="1371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D3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Cognition Layer</a:t>
            </a:r>
            <a:endParaRPr lang="en-US" sz="1700" dirty="0"/>
          </a:p>
        </p:txBody>
      </p:sp>
      <p:pic>
        <p:nvPicPr>
          <p:cNvPr id="9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1856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Map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0" y="213055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severity, confidence per defect</a:t>
            </a:r>
            <a:endParaRPr lang="en-US" sz="950" dirty="0"/>
          </a:p>
        </p:txBody>
      </p:sp>
      <p:pic>
        <p:nvPicPr>
          <p:cNvPr id="12" name="Image 2" descr="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77063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0" y="27523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Scorer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29200" y="3026664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tasks by severity × risk − cost</a:t>
            </a:r>
            <a:endParaRPr lang="en-US" sz="950" dirty="0"/>
          </a:p>
        </p:txBody>
      </p:sp>
      <p:pic>
        <p:nvPicPr>
          <p:cNvPr id="15" name="Image 3" descr="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666744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364845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Manager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029200" y="3922776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ordered task list</a:t>
            </a:r>
            <a:endParaRPr lang="en-US" sz="950" dirty="0"/>
          </a:p>
        </p:txBody>
      </p:sp>
      <p:pic>
        <p:nvPicPr>
          <p:cNvPr id="1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562856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0" y="4544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Monitor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029200" y="481888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result → update / re-queue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412480" y="1554480"/>
            <a:ext cx="3246120" cy="1371600"/>
          </a:xfrm>
          <a:prstGeom prst="roundRect">
            <a:avLst>
              <a:gd name="adj" fmla="val 4667"/>
            </a:avLst>
          </a:prstGeom>
          <a:solidFill>
            <a:srgbClr val="065A82"/>
          </a:solidFill>
          <a:ln/>
        </p:spPr>
      </p:sp>
      <p:pic>
        <p:nvPicPr>
          <p:cNvPr id="22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828800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326880" y="1828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Robot Node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932688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D9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task, reports status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3749040" y="224028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Text 18"/>
          <p:cNvSpPr/>
          <p:nvPr/>
        </p:nvSpPr>
        <p:spPr>
          <a:xfrm>
            <a:off x="370332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/defect_detections</a:t>
            </a:r>
            <a:endParaRPr lang="en-US" sz="750" dirty="0"/>
          </a:p>
        </p:txBody>
      </p:sp>
      <p:sp>
        <p:nvSpPr>
          <p:cNvPr id="27" name="Shape 19"/>
          <p:cNvSpPr/>
          <p:nvPr/>
        </p:nvSpPr>
        <p:spPr>
          <a:xfrm>
            <a:off x="7955280" y="224028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Text 20"/>
          <p:cNvSpPr/>
          <p:nvPr/>
        </p:nvSpPr>
        <p:spPr>
          <a:xfrm>
            <a:off x="7909560" y="228600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/task_queue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10030968" y="3017520"/>
            <a:ext cx="0" cy="23317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030968" y="5349240"/>
            <a:ext cx="-1874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156448" y="5349240"/>
            <a:ext cx="-353872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2" name="Shape 24"/>
          <p:cNvSpPr/>
          <p:nvPr/>
        </p:nvSpPr>
        <p:spPr>
          <a:xfrm>
            <a:off x="4617720" y="5349240"/>
            <a:ext cx="0" cy="-2743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675120" y="5394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/task_complete (verification re-scan trigger)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ROS2 nodes (mapper, cleaner) communicate only through the cognition layer's topics/services — a fixed specialized two-robot hand-off, not a homogeneous swarm.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Positioning vs. Published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23560" y="1463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46720" y="14630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 vs. Our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2938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7510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Map-TIDAL (Ruediger &amp; Banerjee, 2026)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23560" y="197510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discovery + allocation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9751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severity/confidence model; no post-action verification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1106424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8833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Biofouling recognition + tracking (Su et al., 2024)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23560" y="268833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+ 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68833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fused into steering; no task-priority layer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015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A* hull navigation (review, 2025)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23560" y="340156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40156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Collision-free routing only; no task ordering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658368"/>
          </a:xfrm>
          <a:prstGeom prst="rect">
            <a:avLst/>
          </a:prstGeom>
          <a:solidFill>
            <a:srgbClr val="F4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hierarchical orchestration (2026)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23560" y="411480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/ 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11480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belief model, no verification; different domain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82803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hull crack detection (2026)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23560" y="482803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82803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only, no downstream planning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6327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8-paper literature review with citations available in the accompanying document.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pic>
        <p:nvPicPr>
          <p:cNvPr id="3" name="Image 0" descr="icons/boo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41148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721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H., Liu, S., Zhang, L., Chen, Y., Yang, C. — “Biofouling recognition and boundary tracking control for underwater cleaning robots.” Ocean Engineering, Vol. 295 (2024), Art. 116707.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204825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9339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“Automated detection and classification of cracks in ship hull structures using deep learning.” Ocean Engineering (2026).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6946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“Detection of Cracks and Corrosion for Automated Vessels Visual Inspection” (LIACI dataset), EU FP7 MINOAS project.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45536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“Design, perception, planning and control for underwater cleaning robotics: Progress, challenges and trends.” Ocean Engineering review (2025).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216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“Algorithm for Determining the Position of a Ship Hull-Cleaning Robot.” Applied Sciences 15(10), 5705 (2025).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297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Ruediger, M., Banerjee, A.G. — “Mapping-Guided Task Discovery and Allocation for Cooperative Robotic Inspection of Underwater Structures” (Map-TIDAL). arXiv:2602.02389 (2026).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92861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87375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Centralized Multi-Robot Task Allocation for Industrial Plant Inspection by Using A* and Genetic Algorithms.”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5046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449824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Hierarchical LLM-Based Framework for Heterogeneous Multi-Robot Orchestration in High-Risk Energy Facility Maintenance” (2026).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retrieved via web search; full comparison and links provided in the literature review document.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1984248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belief-driven, severity-aware task prioritization layer with closed-loop cleaning verification — demonstrated absent from reviewed literature.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5409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83464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in simulation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3172968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two-robot pipeline runs in Gazebo without dependence on unavailable hardware or an unproven ROS distro.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icons/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24281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2336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comparison baseline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00200" y="4361688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benchmarked in concept against Map-TIDAL-style task discovery to demonstrate the added verification/prioritization value.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8FA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431536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12080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design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600200" y="5550408"/>
            <a:ext cx="9784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map + utility scoring is detector-agnostic — real perception models (YOLOv8, segmentation) can be substituted later without redesigning the cognition layer.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823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Pritish Bhatasana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23BRS1035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0" y="44348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Seth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23BRS1038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2026-07-31T03:44:44Z</dcterms:created>
  <dcterms:modified xsi:type="dcterms:W3CDTF">2026-07-31T03:44:44Z</dcterms:modified>
</cp:coreProperties>
</file>